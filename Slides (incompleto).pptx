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5" name="Google Shape;47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34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274320" y="91440"/>
            <a:ext cx="8595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INTRODUCCIÓN A LA CIENCIA DE DATOS · 2026 · 1°C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365760" y="822960"/>
            <a:ext cx="8412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Trabajo Práctico Integrador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365760" y="173736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CE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94CEFF"/>
                </a:solidFill>
                <a:latin typeface="Calibri"/>
                <a:ea typeface="Calibri"/>
                <a:cs typeface="Calibri"/>
                <a:sym typeface="Calibri"/>
              </a:rPr>
              <a:t>Generación Mundial de Electricidad Renovable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20;p3"/>
          <p:cNvCxnSpPr/>
          <p:nvPr/>
        </p:nvCxnSpPr>
        <p:spPr>
          <a:xfrm>
            <a:off x="365760" y="2423160"/>
            <a:ext cx="8412480" cy="0"/>
          </a:xfrm>
          <a:prstGeom prst="straightConnector1">
            <a:avLst/>
          </a:prstGeom>
          <a:noFill/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3"/>
          <p:cNvSpPr/>
          <p:nvPr/>
        </p:nvSpPr>
        <p:spPr>
          <a:xfrm>
            <a:off x="365760" y="26060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GRUPO 30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365760" y="2999232"/>
            <a:ext cx="146304" cy="146304"/>
          </a:xfrm>
          <a:prstGeom prst="ellipse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594360" y="294436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BEAF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BEAFE"/>
                </a:solidFill>
                <a:latin typeface="Calibri"/>
                <a:ea typeface="Calibri"/>
                <a:cs typeface="Calibri"/>
                <a:sym typeface="Calibri"/>
              </a:rPr>
              <a:t>Carlos Perichón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365760" y="3364992"/>
            <a:ext cx="146304" cy="146304"/>
          </a:xfrm>
          <a:prstGeom prst="ellipse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594360" y="331012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BEAF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BEAFE"/>
                </a:solidFill>
                <a:latin typeface="Calibri"/>
                <a:ea typeface="Calibri"/>
                <a:cs typeface="Calibri"/>
                <a:sym typeface="Calibri"/>
              </a:rPr>
              <a:t>Pablo Martín Iturralde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365760" y="3730752"/>
            <a:ext cx="146304" cy="146304"/>
          </a:xfrm>
          <a:prstGeom prst="ellipse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594360" y="367588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BEAF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BEAFE"/>
                </a:solidFill>
                <a:latin typeface="Calibri"/>
                <a:ea typeface="Calibri"/>
                <a:cs typeface="Calibri"/>
                <a:sym typeface="Calibri"/>
              </a:rPr>
              <a:t>Carlos Hall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365760" y="4096512"/>
            <a:ext cx="146304" cy="146304"/>
          </a:xfrm>
          <a:prstGeom prst="ellipse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594360" y="404164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BEAF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BEAFE"/>
                </a:solidFill>
                <a:latin typeface="Calibri"/>
                <a:ea typeface="Calibri"/>
                <a:cs typeface="Calibri"/>
                <a:sym typeface="Calibri"/>
              </a:rPr>
              <a:t>Nicolás Fernández Olmos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5029200" y="2560320"/>
            <a:ext cx="3840480" cy="219456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5120640" y="26974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5120640" y="299923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Our World in 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5120640" y="333756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Renewable Electricity Generation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1965 – 2024 · 79 países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~6.500 obs.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Universidad del Gran Rosario · TUDAI ·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ESTRUCTURA DEL TRABAJO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274320" y="822960"/>
            <a:ext cx="8595360" cy="676656"/>
          </a:xfrm>
          <a:prstGeom prst="rect">
            <a:avLst/>
          </a:prstGeom>
          <a:solidFill>
            <a:srgbClr val="EBF4FD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274320" y="822960"/>
            <a:ext cx="91440" cy="676656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457200" y="88696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051560" y="868680"/>
            <a:ext cx="5303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Definición y Comprensión del Problema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051560" y="1170432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Carlos Perichón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6858000" y="9601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274320" y="1618488"/>
            <a:ext cx="8595360" cy="676656"/>
          </a:xfrm>
          <a:prstGeom prst="rect">
            <a:avLst/>
          </a:prstGeom>
          <a:solidFill>
            <a:srgbClr val="EAFAF1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274320" y="1618488"/>
            <a:ext cx="91440" cy="676656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57200" y="168249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1051560" y="1664208"/>
            <a:ext cx="5303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Limpieza y Preprocesamiento de Datos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051560" y="1965960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Pablo Martín Iturralde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6858000" y="175564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Limpieza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274320" y="2414016"/>
            <a:ext cx="8595360" cy="676656"/>
          </a:xfrm>
          <a:prstGeom prst="rect">
            <a:avLst/>
          </a:prstGeom>
          <a:solidFill>
            <a:srgbClr val="FFFBEB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274320" y="2414016"/>
            <a:ext cx="91440" cy="676656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457200" y="247802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1051560" y="2459736"/>
            <a:ext cx="5303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Análisis Exploratorio de Datos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1051560" y="2761488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Carlos Hall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6858000" y="2551176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EDA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274320" y="3209544"/>
            <a:ext cx="8595360" cy="676656"/>
          </a:xfrm>
          <a:prstGeom prst="rect">
            <a:avLst/>
          </a:prstGeom>
          <a:solidFill>
            <a:srgbClr val="F5EFFE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274320" y="3209544"/>
            <a:ext cx="91440" cy="676656"/>
          </a:xfrm>
          <a:prstGeom prst="rect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457200" y="327355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1051560" y="3255264"/>
            <a:ext cx="5303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Visualización de Datos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1051560" y="3557016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Nicolás Fernández Olmos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6858000" y="3346704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Viz.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274320" y="4005072"/>
            <a:ext cx="8595360" cy="676656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7890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274320" y="4005072"/>
            <a:ext cx="91440" cy="676656"/>
          </a:xfrm>
          <a:prstGeom prst="rect">
            <a:avLst/>
          </a:prstGeom>
          <a:solidFill>
            <a:srgbClr val="78909C"/>
          </a:solidFill>
          <a:ln cap="flat" cmpd="sng" w="12700">
            <a:solidFill>
              <a:srgbClr val="7890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457200" y="40690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1051560" y="4050792"/>
            <a:ext cx="5303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Ajustes y Modelos [Pendiente]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1051560" y="4352544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Próxima entrega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4FD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457200" y="640080"/>
            <a:ext cx="1828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0"/>
              <a:buFont typeface="Calibri"/>
              <a:buNone/>
            </a:pPr>
            <a:r>
              <a:rPr b="1" i="0" lang="en-US" sz="120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CAPÍTULO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2122725" y="1084700"/>
            <a:ext cx="80466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Definición y Comprensión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del Problema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457200" y="3200400"/>
            <a:ext cx="3200400" cy="384048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502920" y="3218688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Presenta: Carlos Perichón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5029200" y="475488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UGR · ICD 2026-1C · Grupo 30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4FD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El Dataset — Our World in Data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6"/>
          <p:cNvCxnSpPr/>
          <p:nvPr/>
        </p:nvCxnSpPr>
        <p:spPr>
          <a:xfrm>
            <a:off x="365760" y="713232"/>
            <a:ext cx="8412480" cy="0"/>
          </a:xfrm>
          <a:prstGeom prst="straightConnector1">
            <a:avLst/>
          </a:prstGeom>
          <a:noFill/>
          <a:ln cap="flat" cmpd="sng" w="1905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" name="Google Shape;91;p6"/>
          <p:cNvSpPr/>
          <p:nvPr/>
        </p:nvSpPr>
        <p:spPr>
          <a:xfrm>
            <a:off x="0" y="4846320"/>
            <a:ext cx="9144000" cy="4572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0" y="4892040"/>
            <a:ext cx="2560320" cy="246888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91440" y="4901184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Carlos Perichón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8229600" y="4901184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Cap.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274320" y="822960"/>
            <a:ext cx="3931920" cy="3749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411480" y="91440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Fuente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411480" y="1170432"/>
            <a:ext cx="3703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Our World in Data / Energy Institute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" name="Google Shape;98;p6"/>
          <p:cNvCxnSpPr/>
          <p:nvPr/>
        </p:nvCxnSpPr>
        <p:spPr>
          <a:xfrm>
            <a:off x="411480" y="1481328"/>
            <a:ext cx="356616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p6"/>
          <p:cNvSpPr/>
          <p:nvPr/>
        </p:nvSpPr>
        <p:spPr>
          <a:xfrm>
            <a:off x="411480" y="1572768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Período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411480" y="1828800"/>
            <a:ext cx="3703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1965 – 2024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" name="Google Shape;101;p6"/>
          <p:cNvCxnSpPr/>
          <p:nvPr/>
        </p:nvCxnSpPr>
        <p:spPr>
          <a:xfrm>
            <a:off x="411480" y="2139696"/>
            <a:ext cx="356616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6"/>
          <p:cNvSpPr/>
          <p:nvPr/>
        </p:nvSpPr>
        <p:spPr>
          <a:xfrm>
            <a:off x="411480" y="2231136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Variables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411480" y="2487168"/>
            <a:ext cx="3703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solar, wind, hydro, other_renewables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" name="Google Shape;104;p6"/>
          <p:cNvCxnSpPr/>
          <p:nvPr/>
        </p:nvCxnSpPr>
        <p:spPr>
          <a:xfrm>
            <a:off x="411480" y="2798064"/>
            <a:ext cx="356616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" name="Google Shape;105;p6"/>
          <p:cNvSpPr/>
          <p:nvPr/>
        </p:nvSpPr>
        <p:spPr>
          <a:xfrm>
            <a:off x="411480" y="2889504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Filas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411480" y="3145536"/>
            <a:ext cx="3703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~6.500 obs. (país-año)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p6"/>
          <p:cNvCxnSpPr/>
          <p:nvPr/>
        </p:nvCxnSpPr>
        <p:spPr>
          <a:xfrm>
            <a:off x="411480" y="3456432"/>
            <a:ext cx="356616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6"/>
          <p:cNvSpPr/>
          <p:nvPr/>
        </p:nvSpPr>
        <p:spPr>
          <a:xfrm>
            <a:off x="411480" y="3547872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Formato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411480" y="3803904"/>
            <a:ext cx="3703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CSV · Licencia CC BY 4.0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4389120" y="822960"/>
            <a:ext cx="4480560" cy="3749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4526280" y="896112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¿Por qué este dataset?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4526280" y="1280160"/>
            <a:ext cx="416052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Transición energética global: debate central en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D234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IA y data centers demandan energía limpia sin precedentes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D234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60 años de historia + 200 países = análisis longitudinal robusto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D234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Variables numéricas listas para EDA y modelado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D234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Diagnóstico concreto: ¿puede Argentina sostener infraestructura de IA?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4FD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Definición del Problema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" name="Google Shape;120;p7"/>
          <p:cNvCxnSpPr/>
          <p:nvPr/>
        </p:nvCxnSpPr>
        <p:spPr>
          <a:xfrm>
            <a:off x="365760" y="713232"/>
            <a:ext cx="8412480" cy="0"/>
          </a:xfrm>
          <a:prstGeom prst="straightConnector1">
            <a:avLst/>
          </a:prstGeom>
          <a:noFill/>
          <a:ln cap="flat" cmpd="sng" w="1905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" name="Google Shape;121;p7"/>
          <p:cNvSpPr/>
          <p:nvPr/>
        </p:nvSpPr>
        <p:spPr>
          <a:xfrm>
            <a:off x="0" y="4846320"/>
            <a:ext cx="9144000" cy="4572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0" y="4892040"/>
            <a:ext cx="2560320" cy="246888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91440" y="4901184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Carlos Perichón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8229600" y="4901184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Cap.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365760" y="804672"/>
            <a:ext cx="8412480" cy="6400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127000" lIns="127000" spcFirstLastPara="1" rIns="1270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¿Alcanza el ritmo de crecimiento renovable para sostener la demanda de IA en 2030–2035?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274320" y="1600200"/>
            <a:ext cx="2788920" cy="3108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274320" y="1600200"/>
            <a:ext cx="2788920" cy="73152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365760" y="1719072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⚡ Eje Tecnológico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365760" y="2194560"/>
            <a:ext cx="2606040" cy="2331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Data centers de IA duplicarán consumo eléctrico antes de 2030 (IEA 2024). ¿Hay renovables suficientes?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3246120" y="1600200"/>
            <a:ext cx="2788920" cy="3108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3246120" y="1600200"/>
            <a:ext cx="2788920" cy="73152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3337560" y="1719072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💰 Eje Económico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3337560" y="2194560"/>
            <a:ext cx="2606040" cy="2331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Países con mayor solar + eólica reducen dependencia de combustibles fósiles y mejoran su balanza energética.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6217920" y="1600200"/>
            <a:ext cx="2788920" cy="3108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6217920" y="1600200"/>
            <a:ext cx="2788920" cy="73152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6309360" y="1719072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🌿 Eje Ambiental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6309360" y="2194560"/>
            <a:ext cx="2606040" cy="2331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Cumplimiento de compromisos de reducción de emisiones depende del ritmo de transición renovable.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AF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457200" y="640080"/>
            <a:ext cx="1828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2000"/>
              <a:buFont typeface="Calibri"/>
              <a:buNone/>
            </a:pPr>
            <a:r>
              <a:rPr b="1" i="0" lang="en-US" sz="120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CAPÍTULO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2052725" y="1084700"/>
            <a:ext cx="80466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Limpieza y Preprocesamiento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de Datos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457200" y="3200400"/>
            <a:ext cx="3200400" cy="384048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502920" y="3218688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Presenta: Pablo Martín Iturralde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5029200" y="475488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UGR · ICD 2026-1C · Grupo 30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AF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Pasos de Limpieza y Transformación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" name="Google Shape;157;p9"/>
          <p:cNvCxnSpPr/>
          <p:nvPr/>
        </p:nvCxnSpPr>
        <p:spPr>
          <a:xfrm>
            <a:off x="365760" y="713232"/>
            <a:ext cx="8412480" cy="0"/>
          </a:xfrm>
          <a:prstGeom prst="straightConnector1">
            <a:avLst/>
          </a:prstGeom>
          <a:noFill/>
          <a:ln cap="flat" cmpd="sng" w="1905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9"/>
          <p:cNvSpPr/>
          <p:nvPr/>
        </p:nvSpPr>
        <p:spPr>
          <a:xfrm>
            <a:off x="0" y="4846320"/>
            <a:ext cx="9144000" cy="45720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0" y="4892040"/>
            <a:ext cx="2560320" cy="246888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91440" y="4901184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Martín Iturralde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8229600" y="4901184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Cap.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274320" y="868680"/>
            <a:ext cx="4160520" cy="182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"/>
          <p:cNvSpPr/>
          <p:nvPr/>
        </p:nvSpPr>
        <p:spPr>
          <a:xfrm>
            <a:off x="274320" y="868680"/>
            <a:ext cx="4160520" cy="64008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384048" y="1024128"/>
            <a:ext cx="384048" cy="384048"/>
          </a:xfrm>
          <a:prstGeom prst="ellipse">
            <a:avLst/>
          </a:prstGeom>
          <a:solidFill>
            <a:srgbClr val="EAFAF1"/>
          </a:solidFill>
          <a:ln cap="flat" cmpd="sng" w="1905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384048" y="10241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868680" y="1024128"/>
            <a:ext cx="3429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Renombrado de columnas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384048" y="1490472"/>
            <a:ext cx="3886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solar_generation → solar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wind_generation → wind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hydro_generation → hydropower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other_renewables_exc_biofuel → other_renewables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4709160" y="868680"/>
            <a:ext cx="4160520" cy="182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"/>
          <p:cNvSpPr/>
          <p:nvPr/>
        </p:nvSpPr>
        <p:spPr>
          <a:xfrm>
            <a:off x="4709160" y="868680"/>
            <a:ext cx="4160520" cy="64008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4818888" y="1024128"/>
            <a:ext cx="384048" cy="384048"/>
          </a:xfrm>
          <a:prstGeom prst="ellipse">
            <a:avLst/>
          </a:prstGeom>
          <a:solidFill>
            <a:srgbClr val="EAFAF1"/>
          </a:solidFill>
          <a:ln cap="flat" cmpd="sng" w="1905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4818888" y="10241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5303520" y="1024128"/>
            <a:ext cx="3429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Clasificación entity_type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4818888" y="1490472"/>
            <a:ext cx="3886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 añadió columna entity_type para distinguir country vs. aggregate (regiones OWID/Energy Institute)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274320" y="2880360"/>
            <a:ext cx="4160520" cy="182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274320" y="2880360"/>
            <a:ext cx="4160520" cy="64008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"/>
          <p:cNvSpPr/>
          <p:nvPr/>
        </p:nvSpPr>
        <p:spPr>
          <a:xfrm>
            <a:off x="384048" y="3035808"/>
            <a:ext cx="384048" cy="384048"/>
          </a:xfrm>
          <a:prstGeom prst="ellipse">
            <a:avLst/>
          </a:prstGeom>
          <a:solidFill>
            <a:srgbClr val="EAFAF1"/>
          </a:solidFill>
          <a:ln cap="flat" cmpd="sng" w="1905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"/>
          <p:cNvSpPr/>
          <p:nvPr/>
        </p:nvSpPr>
        <p:spPr>
          <a:xfrm>
            <a:off x="384048" y="303580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868680" y="3035808"/>
            <a:ext cx="3429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Nueva variable total_renewables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384048" y="3502152"/>
            <a:ext cx="3886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total = solar + wind + hydropower + other_renewables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Indicador agregado de capacidad renovable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4709160" y="2880360"/>
            <a:ext cx="4160520" cy="182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4709160" y="2880360"/>
            <a:ext cx="4160520" cy="64008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4818888" y="3035808"/>
            <a:ext cx="384048" cy="384048"/>
          </a:xfrm>
          <a:prstGeom prst="ellipse">
            <a:avLst/>
          </a:prstGeom>
          <a:solidFill>
            <a:srgbClr val="EAFAF1"/>
          </a:solidFill>
          <a:ln cap="flat" cmpd="sng" w="1905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4818888" y="303580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5303520" y="3035808"/>
            <a:ext cx="3429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Filtrado de muestra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4818888" y="3502152"/>
            <a:ext cx="3886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Período: 2000–2024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Solo: entity_type = country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 1.975 obs. (79 países × 25 años)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AF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Tratamiento de Outliers — Dataset Final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Google Shape;193;p10"/>
          <p:cNvCxnSpPr/>
          <p:nvPr/>
        </p:nvCxnSpPr>
        <p:spPr>
          <a:xfrm>
            <a:off x="365760" y="713232"/>
            <a:ext cx="8412480" cy="0"/>
          </a:xfrm>
          <a:prstGeom prst="straightConnector1">
            <a:avLst/>
          </a:prstGeom>
          <a:noFill/>
          <a:ln cap="flat" cmpd="sng" w="1905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" name="Google Shape;194;p10"/>
          <p:cNvSpPr/>
          <p:nvPr/>
        </p:nvSpPr>
        <p:spPr>
          <a:xfrm>
            <a:off x="0" y="4846320"/>
            <a:ext cx="9144000" cy="45720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"/>
          <p:cNvSpPr/>
          <p:nvPr/>
        </p:nvSpPr>
        <p:spPr>
          <a:xfrm>
            <a:off x="0" y="4892040"/>
            <a:ext cx="2560320" cy="246888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"/>
          <p:cNvSpPr/>
          <p:nvPr/>
        </p:nvSpPr>
        <p:spPr>
          <a:xfrm>
            <a:off x="91440" y="4901184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Martín Iturralde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8229600" y="4901184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Cap.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822960"/>
            <a:ext cx="5029200" cy="283464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0"/>
          <p:cNvSpPr/>
          <p:nvPr/>
        </p:nvSpPr>
        <p:spPr>
          <a:xfrm>
            <a:off x="274320" y="3749040"/>
            <a:ext cx="5029200" cy="822960"/>
          </a:xfrm>
          <a:prstGeom prst="rect">
            <a:avLst/>
          </a:prstGeom>
          <a:solidFill>
            <a:srgbClr val="ECFDF5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"/>
          <p:cNvSpPr/>
          <p:nvPr/>
        </p:nvSpPr>
        <p:spPr>
          <a:xfrm>
            <a:off x="411480" y="3794760"/>
            <a:ext cx="4754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Representan países líderes (China, EE.UU., Brasil) que son el núcleo del análisis.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5577840" y="822960"/>
            <a:ext cx="3291840" cy="3749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"/>
          <p:cNvSpPr/>
          <p:nvPr/>
        </p:nvSpPr>
        <p:spPr>
          <a:xfrm>
            <a:off x="5669280" y="91440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DATASET FINAL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5669280" y="132588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Filas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7315200" y="132588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1.975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" name="Google Shape;205;p10"/>
          <p:cNvCxnSpPr/>
          <p:nvPr/>
        </p:nvCxnSpPr>
        <p:spPr>
          <a:xfrm>
            <a:off x="5669280" y="1664208"/>
            <a:ext cx="310896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" name="Google Shape;206;p10"/>
          <p:cNvSpPr/>
          <p:nvPr/>
        </p:nvSpPr>
        <p:spPr>
          <a:xfrm>
            <a:off x="5669280" y="178308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Países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7315200" y="178308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79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" name="Google Shape;208;p10"/>
          <p:cNvCxnSpPr/>
          <p:nvPr/>
        </p:nvCxnSpPr>
        <p:spPr>
          <a:xfrm>
            <a:off x="5669280" y="2121408"/>
            <a:ext cx="310896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" name="Google Shape;209;p10"/>
          <p:cNvSpPr/>
          <p:nvPr/>
        </p:nvSpPr>
        <p:spPr>
          <a:xfrm>
            <a:off x="5669280" y="224028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Período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7315200" y="224028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2000–2024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1" name="Google Shape;211;p10"/>
          <p:cNvCxnSpPr/>
          <p:nvPr/>
        </p:nvCxnSpPr>
        <p:spPr>
          <a:xfrm>
            <a:off x="5669280" y="2578608"/>
            <a:ext cx="310896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2" name="Google Shape;212;p10"/>
          <p:cNvSpPr/>
          <p:nvPr/>
        </p:nvSpPr>
        <p:spPr>
          <a:xfrm>
            <a:off x="5669280" y="269748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Columnas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7315200" y="269748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4" name="Google Shape;214;p10"/>
          <p:cNvCxnSpPr/>
          <p:nvPr/>
        </p:nvCxnSpPr>
        <p:spPr>
          <a:xfrm>
            <a:off x="5669280" y="3035808"/>
            <a:ext cx="310896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" name="Google Shape;215;p10"/>
          <p:cNvSpPr/>
          <p:nvPr/>
        </p:nvSpPr>
        <p:spPr>
          <a:xfrm>
            <a:off x="5669280" y="315468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7315200" y="315468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7" name="Google Shape;217;p10"/>
          <p:cNvCxnSpPr/>
          <p:nvPr/>
        </p:nvCxnSpPr>
        <p:spPr>
          <a:xfrm>
            <a:off x="5669280" y="3493008"/>
            <a:ext cx="310896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p10"/>
          <p:cNvSpPr/>
          <p:nvPr/>
        </p:nvSpPr>
        <p:spPr>
          <a:xfrm>
            <a:off x="5669280" y="361188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Duplicados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7315200" y="361188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EB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"/>
          <p:cNvSpPr/>
          <p:nvPr/>
        </p:nvSpPr>
        <p:spPr>
          <a:xfrm>
            <a:off x="457200" y="640080"/>
            <a:ext cx="1828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2000"/>
              <a:buFont typeface="Calibri"/>
              <a:buNone/>
            </a:pPr>
            <a:r>
              <a:rPr b="1" i="0" lang="en-US" sz="120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CAPÍTULO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2087725" y="1126675"/>
            <a:ext cx="80466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Análisis Exploratorio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de Datos (EDA)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457200" y="3200400"/>
            <a:ext cx="3200400" cy="384048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1"/>
          <p:cNvSpPr/>
          <p:nvPr/>
        </p:nvSpPr>
        <p:spPr>
          <a:xfrm>
            <a:off x="502920" y="3218688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Presenta: Carlos Hall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5029200" y="475488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UGR · ICD 2026-1C · Grupo 30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E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2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Estadísticos Descriptivos Principales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9" name="Google Shape;239;p12"/>
          <p:cNvCxnSpPr/>
          <p:nvPr/>
        </p:nvCxnSpPr>
        <p:spPr>
          <a:xfrm>
            <a:off x="365760" y="713232"/>
            <a:ext cx="8412480" cy="0"/>
          </a:xfrm>
          <a:prstGeom prst="straightConnector1">
            <a:avLst/>
          </a:prstGeom>
          <a:noFill/>
          <a:ln cap="flat" cmpd="sng" w="1905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0" name="Google Shape;240;p12"/>
          <p:cNvSpPr/>
          <p:nvPr/>
        </p:nvSpPr>
        <p:spPr>
          <a:xfrm>
            <a:off x="0" y="4846320"/>
            <a:ext cx="9144000" cy="45720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2"/>
          <p:cNvSpPr/>
          <p:nvPr/>
        </p:nvSpPr>
        <p:spPr>
          <a:xfrm>
            <a:off x="0" y="4892040"/>
            <a:ext cx="2560320" cy="246888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2"/>
          <p:cNvSpPr/>
          <p:nvPr/>
        </p:nvSpPr>
        <p:spPr>
          <a:xfrm>
            <a:off x="91440" y="4901184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Carlos Hall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2"/>
          <p:cNvSpPr/>
          <p:nvPr/>
        </p:nvSpPr>
        <p:spPr>
          <a:xfrm>
            <a:off x="8229600" y="4901184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Cap.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274320" y="822960"/>
            <a:ext cx="1645920" cy="530352"/>
          </a:xfrm>
          <a:prstGeom prst="rect">
            <a:avLst/>
          </a:prstGeom>
          <a:solidFill>
            <a:srgbClr val="B45309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2"/>
          <p:cNvSpPr/>
          <p:nvPr/>
        </p:nvSpPr>
        <p:spPr>
          <a:xfrm>
            <a:off x="320040" y="859536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Variable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1920240" y="822960"/>
            <a:ext cx="1371600" cy="530352"/>
          </a:xfrm>
          <a:prstGeom prst="rect">
            <a:avLst/>
          </a:prstGeom>
          <a:solidFill>
            <a:srgbClr val="B45309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2"/>
          <p:cNvSpPr/>
          <p:nvPr/>
        </p:nvSpPr>
        <p:spPr>
          <a:xfrm>
            <a:off x="1965960" y="859536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Media (TWh)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3291840" y="822960"/>
            <a:ext cx="1188720" cy="530352"/>
          </a:xfrm>
          <a:prstGeom prst="rect">
            <a:avLst/>
          </a:prstGeom>
          <a:solidFill>
            <a:srgbClr val="B45309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2"/>
          <p:cNvSpPr/>
          <p:nvPr/>
        </p:nvSpPr>
        <p:spPr>
          <a:xfrm>
            <a:off x="3337560" y="859536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Mediana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4480560" y="822960"/>
            <a:ext cx="1280160" cy="530352"/>
          </a:xfrm>
          <a:prstGeom prst="rect">
            <a:avLst/>
          </a:prstGeom>
          <a:solidFill>
            <a:srgbClr val="B45309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2"/>
          <p:cNvSpPr/>
          <p:nvPr/>
        </p:nvSpPr>
        <p:spPr>
          <a:xfrm>
            <a:off x="4526280" y="859536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Desv. Est.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5760720" y="822960"/>
            <a:ext cx="1280160" cy="530352"/>
          </a:xfrm>
          <a:prstGeom prst="rect">
            <a:avLst/>
          </a:prstGeom>
          <a:solidFill>
            <a:srgbClr val="B45309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2"/>
          <p:cNvSpPr/>
          <p:nvPr/>
        </p:nvSpPr>
        <p:spPr>
          <a:xfrm>
            <a:off x="5806440" y="859536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Asimetría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7040880" y="822960"/>
            <a:ext cx="914400" cy="530352"/>
          </a:xfrm>
          <a:prstGeom prst="rect">
            <a:avLst/>
          </a:prstGeom>
          <a:solidFill>
            <a:srgbClr val="B45309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2"/>
          <p:cNvSpPr/>
          <p:nvPr/>
        </p:nvSpPr>
        <p:spPr>
          <a:xfrm>
            <a:off x="7086600" y="859536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274320" y="1353312"/>
            <a:ext cx="164592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2"/>
          <p:cNvSpPr/>
          <p:nvPr/>
        </p:nvSpPr>
        <p:spPr>
          <a:xfrm>
            <a:off x="320040" y="1389888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☀️ Solar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1920240" y="1353312"/>
            <a:ext cx="137160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2"/>
          <p:cNvSpPr/>
          <p:nvPr/>
        </p:nvSpPr>
        <p:spPr>
          <a:xfrm>
            <a:off x="1965960" y="1389888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4,95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3291840" y="1353312"/>
            <a:ext cx="118872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2"/>
          <p:cNvSpPr/>
          <p:nvPr/>
        </p:nvSpPr>
        <p:spPr>
          <a:xfrm>
            <a:off x="3337560" y="1389888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0,02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4480560" y="1353312"/>
            <a:ext cx="128016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2"/>
          <p:cNvSpPr/>
          <p:nvPr/>
        </p:nvSpPr>
        <p:spPr>
          <a:xfrm>
            <a:off x="4526280" y="1389888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31,0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5760720" y="1353312"/>
            <a:ext cx="128016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2"/>
          <p:cNvSpPr/>
          <p:nvPr/>
        </p:nvSpPr>
        <p:spPr>
          <a:xfrm>
            <a:off x="5806440" y="1389888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16,0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7040880" y="1353312"/>
            <a:ext cx="91440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2"/>
          <p:cNvSpPr/>
          <p:nvPr/>
        </p:nvSpPr>
        <p:spPr>
          <a:xfrm>
            <a:off x="7086600" y="1389888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6,3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274320" y="1883664"/>
            <a:ext cx="1645920" cy="530352"/>
          </a:xfrm>
          <a:prstGeom prst="rect">
            <a:avLst/>
          </a:prstGeom>
          <a:solidFill>
            <a:srgbClr val="FFFBE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2"/>
          <p:cNvSpPr/>
          <p:nvPr/>
        </p:nvSpPr>
        <p:spPr>
          <a:xfrm>
            <a:off x="320040" y="192024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💨 Eólica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1920240" y="1883664"/>
            <a:ext cx="1371600" cy="530352"/>
          </a:xfrm>
          <a:prstGeom prst="rect">
            <a:avLst/>
          </a:prstGeom>
          <a:solidFill>
            <a:srgbClr val="FFFBE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2"/>
          <p:cNvSpPr/>
          <p:nvPr/>
        </p:nvSpPr>
        <p:spPr>
          <a:xfrm>
            <a:off x="1965960" y="192024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9,21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3291840" y="1883664"/>
            <a:ext cx="1188720" cy="530352"/>
          </a:xfrm>
          <a:prstGeom prst="rect">
            <a:avLst/>
          </a:prstGeom>
          <a:solidFill>
            <a:srgbClr val="FFFBE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2"/>
          <p:cNvSpPr/>
          <p:nvPr/>
        </p:nvSpPr>
        <p:spPr>
          <a:xfrm>
            <a:off x="3337560" y="192024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0,15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4480560" y="1883664"/>
            <a:ext cx="1280160" cy="530352"/>
          </a:xfrm>
          <a:prstGeom prst="rect">
            <a:avLst/>
          </a:prstGeom>
          <a:solidFill>
            <a:srgbClr val="FFFBE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2"/>
          <p:cNvSpPr/>
          <p:nvPr/>
        </p:nvSpPr>
        <p:spPr>
          <a:xfrm>
            <a:off x="4526280" y="192024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39,6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5760720" y="1883664"/>
            <a:ext cx="1280160" cy="530352"/>
          </a:xfrm>
          <a:prstGeom prst="rect">
            <a:avLst/>
          </a:prstGeom>
          <a:solidFill>
            <a:srgbClr val="FFFBE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2"/>
          <p:cNvSpPr/>
          <p:nvPr/>
        </p:nvSpPr>
        <p:spPr>
          <a:xfrm>
            <a:off x="5806440" y="192024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10,2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7040880" y="1883664"/>
            <a:ext cx="914400" cy="530352"/>
          </a:xfrm>
          <a:prstGeom prst="rect">
            <a:avLst/>
          </a:prstGeom>
          <a:solidFill>
            <a:srgbClr val="FFFBE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2"/>
          <p:cNvSpPr/>
          <p:nvPr/>
        </p:nvSpPr>
        <p:spPr>
          <a:xfrm>
            <a:off x="7086600" y="1920240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4,3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2"/>
          <p:cNvSpPr/>
          <p:nvPr/>
        </p:nvSpPr>
        <p:spPr>
          <a:xfrm>
            <a:off x="274320" y="2414016"/>
            <a:ext cx="164592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2"/>
          <p:cNvSpPr/>
          <p:nvPr/>
        </p:nvSpPr>
        <p:spPr>
          <a:xfrm>
            <a:off x="320040" y="2450592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💧 Hidro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1920240" y="2414016"/>
            <a:ext cx="137160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2"/>
          <p:cNvSpPr/>
          <p:nvPr/>
        </p:nvSpPr>
        <p:spPr>
          <a:xfrm>
            <a:off x="1965960" y="2450592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38,3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3291840" y="2414016"/>
            <a:ext cx="118872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"/>
          <p:cNvSpPr/>
          <p:nvPr/>
        </p:nvSpPr>
        <p:spPr>
          <a:xfrm>
            <a:off x="3337560" y="2450592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4,50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4480560" y="2414016"/>
            <a:ext cx="128016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2"/>
          <p:cNvSpPr/>
          <p:nvPr/>
        </p:nvSpPr>
        <p:spPr>
          <a:xfrm>
            <a:off x="4526280" y="2450592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5760720" y="2414016"/>
            <a:ext cx="128016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"/>
          <p:cNvSpPr/>
          <p:nvPr/>
        </p:nvSpPr>
        <p:spPr>
          <a:xfrm>
            <a:off x="5806440" y="2450592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6,6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2"/>
          <p:cNvSpPr/>
          <p:nvPr/>
        </p:nvSpPr>
        <p:spPr>
          <a:xfrm>
            <a:off x="7040880" y="2414016"/>
            <a:ext cx="91440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2"/>
          <p:cNvSpPr/>
          <p:nvPr/>
        </p:nvSpPr>
        <p:spPr>
          <a:xfrm>
            <a:off x="7086600" y="2450592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2,8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274320" y="2944368"/>
            <a:ext cx="1645920" cy="530352"/>
          </a:xfrm>
          <a:prstGeom prst="rect">
            <a:avLst/>
          </a:prstGeom>
          <a:solidFill>
            <a:srgbClr val="FFFBE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2"/>
          <p:cNvSpPr/>
          <p:nvPr/>
        </p:nvSpPr>
        <p:spPr>
          <a:xfrm>
            <a:off x="320040" y="2980944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🌿 Otras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1920240" y="2944368"/>
            <a:ext cx="1371600" cy="530352"/>
          </a:xfrm>
          <a:prstGeom prst="rect">
            <a:avLst/>
          </a:prstGeom>
          <a:solidFill>
            <a:srgbClr val="FFFBE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2"/>
          <p:cNvSpPr/>
          <p:nvPr/>
        </p:nvSpPr>
        <p:spPr>
          <a:xfrm>
            <a:off x="1965960" y="2980944"/>
            <a:ext cx="128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3,27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3291840" y="2944368"/>
            <a:ext cx="1188720" cy="530352"/>
          </a:xfrm>
          <a:prstGeom prst="rect">
            <a:avLst/>
          </a:prstGeom>
          <a:solidFill>
            <a:srgbClr val="FFFBE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2"/>
          <p:cNvSpPr/>
          <p:nvPr/>
        </p:nvSpPr>
        <p:spPr>
          <a:xfrm>
            <a:off x="3337560" y="2980944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0,31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2"/>
          <p:cNvSpPr/>
          <p:nvPr/>
        </p:nvSpPr>
        <p:spPr>
          <a:xfrm>
            <a:off x="4480560" y="2944368"/>
            <a:ext cx="1280160" cy="530352"/>
          </a:xfrm>
          <a:prstGeom prst="rect">
            <a:avLst/>
          </a:prstGeom>
          <a:solidFill>
            <a:srgbClr val="FFFBE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2"/>
          <p:cNvSpPr/>
          <p:nvPr/>
        </p:nvSpPr>
        <p:spPr>
          <a:xfrm>
            <a:off x="4526280" y="2980944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12,5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5760720" y="2944368"/>
            <a:ext cx="1280160" cy="530352"/>
          </a:xfrm>
          <a:prstGeom prst="rect">
            <a:avLst/>
          </a:prstGeom>
          <a:solidFill>
            <a:srgbClr val="FFFBE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2"/>
          <p:cNvSpPr/>
          <p:nvPr/>
        </p:nvSpPr>
        <p:spPr>
          <a:xfrm>
            <a:off x="5806440" y="2980944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8,1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7040880" y="2944368"/>
            <a:ext cx="914400" cy="530352"/>
          </a:xfrm>
          <a:prstGeom prst="rect">
            <a:avLst/>
          </a:prstGeom>
          <a:solidFill>
            <a:srgbClr val="FFFBE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2"/>
          <p:cNvSpPr/>
          <p:nvPr/>
        </p:nvSpPr>
        <p:spPr>
          <a:xfrm>
            <a:off x="7086600" y="2980944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3,8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274320" y="3474720"/>
            <a:ext cx="164592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2"/>
          <p:cNvSpPr/>
          <p:nvPr/>
        </p:nvSpPr>
        <p:spPr>
          <a:xfrm>
            <a:off x="320040" y="3511296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⚡ Total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1920240" y="3474720"/>
            <a:ext cx="137160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2"/>
          <p:cNvSpPr/>
          <p:nvPr/>
        </p:nvSpPr>
        <p:spPr>
          <a:xfrm>
            <a:off x="1965960" y="3511296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55,7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3291840" y="3474720"/>
            <a:ext cx="118872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2"/>
          <p:cNvSpPr/>
          <p:nvPr/>
        </p:nvSpPr>
        <p:spPr>
          <a:xfrm>
            <a:off x="3337560" y="3511296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7,80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4480560" y="3474720"/>
            <a:ext cx="128016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2"/>
          <p:cNvSpPr/>
          <p:nvPr/>
        </p:nvSpPr>
        <p:spPr>
          <a:xfrm>
            <a:off x="4526280" y="3511296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152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5760720" y="3474720"/>
            <a:ext cx="128016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2"/>
          <p:cNvSpPr/>
          <p:nvPr/>
        </p:nvSpPr>
        <p:spPr>
          <a:xfrm>
            <a:off x="5806440" y="3511296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7,2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7040880" y="3474720"/>
            <a:ext cx="91440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2"/>
          <p:cNvSpPr/>
          <p:nvPr/>
        </p:nvSpPr>
        <p:spPr>
          <a:xfrm>
            <a:off x="7086600" y="3511296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2,7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274320" y="3977640"/>
            <a:ext cx="8595360" cy="777240"/>
          </a:xfrm>
          <a:prstGeom prst="rect">
            <a:avLst/>
          </a:prstGeom>
          <a:solidFill>
            <a:srgbClr val="FEF3C7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2"/>
          <p:cNvSpPr/>
          <p:nvPr/>
        </p:nvSpPr>
        <p:spPr>
          <a:xfrm>
            <a:off x="411480" y="4023360"/>
            <a:ext cx="8321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💡  La media supera hasta ×247 a la mediana (Solar). Los ceros representan ausencia de la tecnología, no errores. La mediana es el estadístico representativo del "país típico".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EB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3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Correlación entre Fuentes Renovables (Spearman)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5" name="Google Shape;325;p13"/>
          <p:cNvCxnSpPr/>
          <p:nvPr/>
        </p:nvCxnSpPr>
        <p:spPr>
          <a:xfrm>
            <a:off x="365760" y="713232"/>
            <a:ext cx="8412480" cy="0"/>
          </a:xfrm>
          <a:prstGeom prst="straightConnector1">
            <a:avLst/>
          </a:prstGeom>
          <a:noFill/>
          <a:ln cap="flat" cmpd="sng" w="1905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6" name="Google Shape;326;p13"/>
          <p:cNvSpPr/>
          <p:nvPr/>
        </p:nvSpPr>
        <p:spPr>
          <a:xfrm>
            <a:off x="0" y="4846320"/>
            <a:ext cx="9144000" cy="45720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3"/>
          <p:cNvSpPr/>
          <p:nvPr/>
        </p:nvSpPr>
        <p:spPr>
          <a:xfrm>
            <a:off x="0" y="4892040"/>
            <a:ext cx="2560320" cy="246888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3"/>
          <p:cNvSpPr/>
          <p:nvPr/>
        </p:nvSpPr>
        <p:spPr>
          <a:xfrm>
            <a:off x="91440" y="4901184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Carlos Hall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8229600" y="4901184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Cap.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0" name="Google Shape;33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822960"/>
            <a:ext cx="5029200" cy="347472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3"/>
          <p:cNvSpPr/>
          <p:nvPr/>
        </p:nvSpPr>
        <p:spPr>
          <a:xfrm>
            <a:off x="5440680" y="822960"/>
            <a:ext cx="73152" cy="731520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3"/>
          <p:cNvSpPr/>
          <p:nvPr/>
        </p:nvSpPr>
        <p:spPr>
          <a:xfrm>
            <a:off x="5623560" y="822960"/>
            <a:ext cx="3246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Solar + Eólica (0,70): forman el bloque 'nuevas renovables'. Países que avanzan en una tienden a avanzar en la otra.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5440680" y="1737360"/>
            <a:ext cx="73152" cy="73152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3"/>
          <p:cNvSpPr/>
          <p:nvPr/>
        </p:nvSpPr>
        <p:spPr>
          <a:xfrm>
            <a:off x="5623560" y="1737360"/>
            <a:ext cx="3246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Hidro–Total (0,92): la hidroeléctrica explica casi el ranking completo actual de países. Es la base instalada.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5440680" y="2651760"/>
            <a:ext cx="73152" cy="73152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3"/>
          <p:cNvSpPr/>
          <p:nvPr/>
        </p:nvSpPr>
        <p:spPr>
          <a:xfrm>
            <a:off x="5623560" y="2651760"/>
            <a:ext cx="3246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Otras–Eólica (0,68): biomasa y geotermia conviven con matrices renovables ya consolidadas.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5440680" y="3566160"/>
            <a:ext cx="73152" cy="7315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3"/>
          <p:cNvSpPr/>
          <p:nvPr/>
        </p:nvSpPr>
        <p:spPr>
          <a:xfrm>
            <a:off x="5623560" y="3566160"/>
            <a:ext cx="3246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Solar–Hidro (0,24): prácticamente independientes. Invertir en solar no depende del potencial hidráulico.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EB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4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Argentina en el Mapa Global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6" name="Google Shape;346;p14"/>
          <p:cNvCxnSpPr/>
          <p:nvPr/>
        </p:nvCxnSpPr>
        <p:spPr>
          <a:xfrm>
            <a:off x="365760" y="713232"/>
            <a:ext cx="8412480" cy="0"/>
          </a:xfrm>
          <a:prstGeom prst="straightConnector1">
            <a:avLst/>
          </a:prstGeom>
          <a:noFill/>
          <a:ln cap="flat" cmpd="sng" w="1905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7" name="Google Shape;347;p14"/>
          <p:cNvSpPr/>
          <p:nvPr/>
        </p:nvSpPr>
        <p:spPr>
          <a:xfrm>
            <a:off x="0" y="4846320"/>
            <a:ext cx="9144000" cy="45720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4"/>
          <p:cNvSpPr/>
          <p:nvPr/>
        </p:nvSpPr>
        <p:spPr>
          <a:xfrm>
            <a:off x="0" y="4892040"/>
            <a:ext cx="2560320" cy="246888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4"/>
          <p:cNvSpPr/>
          <p:nvPr/>
        </p:nvSpPr>
        <p:spPr>
          <a:xfrm>
            <a:off x="91440" y="4901184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Carlos Hall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4"/>
          <p:cNvSpPr/>
          <p:nvPr/>
        </p:nvSpPr>
        <p:spPr>
          <a:xfrm>
            <a:off x="8229600" y="4901184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Cap.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1" name="Google Shape;35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822960"/>
            <a:ext cx="530352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14"/>
          <p:cNvSpPr/>
          <p:nvPr/>
        </p:nvSpPr>
        <p:spPr>
          <a:xfrm>
            <a:off x="5760720" y="868680"/>
            <a:ext cx="3108960" cy="86868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4"/>
          <p:cNvSpPr/>
          <p:nvPr/>
        </p:nvSpPr>
        <p:spPr>
          <a:xfrm>
            <a:off x="5806440" y="896112"/>
            <a:ext cx="1188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3,97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4"/>
          <p:cNvSpPr/>
          <p:nvPr/>
        </p:nvSpPr>
        <p:spPr>
          <a:xfrm>
            <a:off x="7040880" y="960120"/>
            <a:ext cx="1737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TWh Solar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2024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4"/>
          <p:cNvSpPr/>
          <p:nvPr/>
        </p:nvSpPr>
        <p:spPr>
          <a:xfrm>
            <a:off x="5760720" y="1874520"/>
            <a:ext cx="3108960" cy="86868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4"/>
          <p:cNvSpPr/>
          <p:nvPr/>
        </p:nvSpPr>
        <p:spPr>
          <a:xfrm>
            <a:off x="5806440" y="1901952"/>
            <a:ext cx="1188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16,2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4"/>
          <p:cNvSpPr/>
          <p:nvPr/>
        </p:nvSpPr>
        <p:spPr>
          <a:xfrm>
            <a:off x="7040880" y="1965960"/>
            <a:ext cx="1737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TWh Eólica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2024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5760720" y="2880360"/>
            <a:ext cx="3108960" cy="86868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4"/>
          <p:cNvSpPr/>
          <p:nvPr/>
        </p:nvSpPr>
        <p:spPr>
          <a:xfrm>
            <a:off x="5806440" y="2907792"/>
            <a:ext cx="1188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52,4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7040880" y="2971800"/>
            <a:ext cx="1737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TWh Total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2024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5760720" y="3977640"/>
            <a:ext cx="3108960" cy="777240"/>
          </a:xfrm>
          <a:prstGeom prst="rect">
            <a:avLst/>
          </a:prstGeom>
          <a:solidFill>
            <a:srgbClr val="FEE2E2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4"/>
          <p:cNvSpPr/>
          <p:nvPr/>
        </p:nvSpPr>
        <p:spPr>
          <a:xfrm>
            <a:off x="5852160" y="4005072"/>
            <a:ext cx="2926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🇦🇷  52,4 TWh vs. España 156 TWh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(último del top-10 mundial)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EFFE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5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5"/>
          <p:cNvSpPr/>
          <p:nvPr/>
        </p:nvSpPr>
        <p:spPr>
          <a:xfrm>
            <a:off x="457200" y="640080"/>
            <a:ext cx="1828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2000"/>
              <a:buFont typeface="Calibri"/>
              <a:buNone/>
            </a:pPr>
            <a:r>
              <a:rPr b="1" i="0" lang="en-US" sz="120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5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CAPÍTULO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5"/>
          <p:cNvSpPr/>
          <p:nvPr/>
        </p:nvSpPr>
        <p:spPr>
          <a:xfrm>
            <a:off x="2185700" y="822950"/>
            <a:ext cx="80466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Visualización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de Datos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5"/>
          <p:cNvSpPr/>
          <p:nvPr/>
        </p:nvSpPr>
        <p:spPr>
          <a:xfrm>
            <a:off x="457200" y="3200400"/>
            <a:ext cx="3200400" cy="384048"/>
          </a:xfrm>
          <a:prstGeom prst="rect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5"/>
          <p:cNvSpPr/>
          <p:nvPr/>
        </p:nvSpPr>
        <p:spPr>
          <a:xfrm>
            <a:off x="502920" y="3218688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Presenta: Nicolás Fernández Olmos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5"/>
          <p:cNvSpPr/>
          <p:nvPr/>
        </p:nvSpPr>
        <p:spPr>
          <a:xfrm>
            <a:off x="5029200" y="475488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UGR · ICD 2026-1C · Grupo 30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EFFE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6"/>
          <p:cNvSpPr/>
          <p:nvPr/>
        </p:nvSpPr>
        <p:spPr>
          <a:xfrm>
            <a:off x="365660" y="10"/>
            <a:ext cx="8412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Visualizaciones Desarrolladas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2" name="Google Shape;382;p16"/>
          <p:cNvCxnSpPr/>
          <p:nvPr/>
        </p:nvCxnSpPr>
        <p:spPr>
          <a:xfrm>
            <a:off x="365710" y="433332"/>
            <a:ext cx="8412600" cy="0"/>
          </a:xfrm>
          <a:prstGeom prst="straightConnector1">
            <a:avLst/>
          </a:prstGeom>
          <a:noFill/>
          <a:ln cap="flat" cmpd="sng" w="1905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3" name="Google Shape;383;p16"/>
          <p:cNvSpPr/>
          <p:nvPr/>
        </p:nvSpPr>
        <p:spPr>
          <a:xfrm>
            <a:off x="0" y="4846320"/>
            <a:ext cx="9144000" cy="45720"/>
          </a:xfrm>
          <a:prstGeom prst="rect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6"/>
          <p:cNvSpPr/>
          <p:nvPr/>
        </p:nvSpPr>
        <p:spPr>
          <a:xfrm>
            <a:off x="0" y="4892040"/>
            <a:ext cx="2560320" cy="246888"/>
          </a:xfrm>
          <a:prstGeom prst="rect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6"/>
          <p:cNvSpPr/>
          <p:nvPr/>
        </p:nvSpPr>
        <p:spPr>
          <a:xfrm>
            <a:off x="91440" y="4901184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Nicolás Fernández Olmos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6"/>
          <p:cNvSpPr/>
          <p:nvPr/>
        </p:nvSpPr>
        <p:spPr>
          <a:xfrm>
            <a:off x="8229600" y="4901184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Cap.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6"/>
          <p:cNvSpPr/>
          <p:nvPr/>
        </p:nvSpPr>
        <p:spPr>
          <a:xfrm>
            <a:off x="309325" y="504063"/>
            <a:ext cx="2743200" cy="1920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6"/>
          <p:cNvSpPr/>
          <p:nvPr/>
        </p:nvSpPr>
        <p:spPr>
          <a:xfrm>
            <a:off x="274325" y="790963"/>
            <a:ext cx="2743200" cy="63900"/>
          </a:xfrm>
          <a:prstGeom prst="rect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6"/>
          <p:cNvSpPr/>
          <p:nvPr/>
        </p:nvSpPr>
        <p:spPr>
          <a:xfrm>
            <a:off x="400765" y="622934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Fig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6"/>
          <p:cNvSpPr/>
          <p:nvPr/>
        </p:nvSpPr>
        <p:spPr>
          <a:xfrm>
            <a:off x="400765" y="888111"/>
            <a:ext cx="256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Histograma + KDE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6"/>
          <p:cNvSpPr/>
          <p:nvPr/>
        </p:nvSpPr>
        <p:spPr>
          <a:xfrm>
            <a:off x="400765" y="1281303"/>
            <a:ext cx="25602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Distribución log10 por fuente. Mediana en rojo. Muestra por qué la mediana &gt; media como estadístico representativo.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6"/>
          <p:cNvSpPr/>
          <p:nvPr/>
        </p:nvSpPr>
        <p:spPr>
          <a:xfrm>
            <a:off x="3235405" y="504063"/>
            <a:ext cx="2743200" cy="1920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6"/>
          <p:cNvSpPr/>
          <p:nvPr/>
        </p:nvSpPr>
        <p:spPr>
          <a:xfrm>
            <a:off x="3200405" y="790963"/>
            <a:ext cx="2743200" cy="63900"/>
          </a:xfrm>
          <a:prstGeom prst="rect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6"/>
          <p:cNvSpPr/>
          <p:nvPr/>
        </p:nvSpPr>
        <p:spPr>
          <a:xfrm>
            <a:off x="3326845" y="622934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Fig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6"/>
          <p:cNvSpPr/>
          <p:nvPr/>
        </p:nvSpPr>
        <p:spPr>
          <a:xfrm>
            <a:off x="3326845" y="888111"/>
            <a:ext cx="256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Raincloud por fuente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6"/>
          <p:cNvSpPr/>
          <p:nvPr/>
        </p:nvSpPr>
        <p:spPr>
          <a:xfrm>
            <a:off x="3326845" y="1281303"/>
            <a:ext cx="25602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Violín + caja + jitter. Concentración del 50% central y extensión de las colas superiores.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6"/>
          <p:cNvSpPr/>
          <p:nvPr/>
        </p:nvSpPr>
        <p:spPr>
          <a:xfrm>
            <a:off x="6161485" y="504063"/>
            <a:ext cx="2743200" cy="1920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6"/>
          <p:cNvSpPr/>
          <p:nvPr/>
        </p:nvSpPr>
        <p:spPr>
          <a:xfrm>
            <a:off x="6126485" y="790963"/>
            <a:ext cx="2743200" cy="63900"/>
          </a:xfrm>
          <a:prstGeom prst="rect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6"/>
          <p:cNvSpPr/>
          <p:nvPr/>
        </p:nvSpPr>
        <p:spPr>
          <a:xfrm>
            <a:off x="6252925" y="622934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Fig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6"/>
          <p:cNvSpPr/>
          <p:nvPr/>
        </p:nvSpPr>
        <p:spPr>
          <a:xfrm>
            <a:off x="6252925" y="888111"/>
            <a:ext cx="256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Solar vs. Eólica + Correlograma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6"/>
          <p:cNvSpPr/>
          <p:nvPr/>
        </p:nvSpPr>
        <p:spPr>
          <a:xfrm>
            <a:off x="6252925" y="1281303"/>
            <a:ext cx="25602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Scatter 2024 (79 países, escala log–log) + triángulo Spearman. Argentina con estrella roja.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6"/>
          <p:cNvSpPr/>
          <p:nvPr/>
        </p:nvSpPr>
        <p:spPr>
          <a:xfrm>
            <a:off x="309325" y="2607182"/>
            <a:ext cx="2743200" cy="1920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6"/>
          <p:cNvSpPr/>
          <p:nvPr/>
        </p:nvSpPr>
        <p:spPr>
          <a:xfrm>
            <a:off x="309325" y="2607183"/>
            <a:ext cx="2743200" cy="63900"/>
          </a:xfrm>
          <a:prstGeom prst="rect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6"/>
          <p:cNvSpPr/>
          <p:nvPr/>
        </p:nvSpPr>
        <p:spPr>
          <a:xfrm>
            <a:off x="400765" y="2726055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Fig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6"/>
          <p:cNvSpPr/>
          <p:nvPr/>
        </p:nvSpPr>
        <p:spPr>
          <a:xfrm>
            <a:off x="400765" y="2991231"/>
            <a:ext cx="256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Mapa Coroplético Plotly ⚡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6"/>
          <p:cNvSpPr/>
          <p:nvPr/>
        </p:nvSpPr>
        <p:spPr>
          <a:xfrm>
            <a:off x="400765" y="3384423"/>
            <a:ext cx="25602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Interactivo. Tooltips por país. Escala log10. Se entrega como HTML interactivo separado.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6"/>
          <p:cNvSpPr/>
          <p:nvPr/>
        </p:nvSpPr>
        <p:spPr>
          <a:xfrm>
            <a:off x="3235405" y="2607182"/>
            <a:ext cx="2743200" cy="1920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6"/>
          <p:cNvSpPr/>
          <p:nvPr/>
        </p:nvSpPr>
        <p:spPr>
          <a:xfrm>
            <a:off x="3235405" y="2607183"/>
            <a:ext cx="2743200" cy="63900"/>
          </a:xfrm>
          <a:prstGeom prst="rect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6"/>
          <p:cNvSpPr/>
          <p:nvPr/>
        </p:nvSpPr>
        <p:spPr>
          <a:xfrm>
            <a:off x="3326845" y="2726055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Fig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6"/>
          <p:cNvSpPr/>
          <p:nvPr/>
        </p:nvSpPr>
        <p:spPr>
          <a:xfrm>
            <a:off x="3326845" y="2991231"/>
            <a:ext cx="256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Dashboard 2×2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6"/>
          <p:cNvSpPr/>
          <p:nvPr/>
        </p:nvSpPr>
        <p:spPr>
          <a:xfrm>
            <a:off x="3326845" y="3384423"/>
            <a:ext cx="25602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Serie temporal mundial · Top-10 2024 · Composición argentina · Participación relativa Argentina/mundo.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EFFE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7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Hallazgos Visuales Clave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9" name="Google Shape;419;p17"/>
          <p:cNvCxnSpPr/>
          <p:nvPr/>
        </p:nvCxnSpPr>
        <p:spPr>
          <a:xfrm>
            <a:off x="365760" y="713232"/>
            <a:ext cx="8412480" cy="0"/>
          </a:xfrm>
          <a:prstGeom prst="straightConnector1">
            <a:avLst/>
          </a:prstGeom>
          <a:noFill/>
          <a:ln cap="flat" cmpd="sng" w="1905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0" name="Google Shape;420;p17"/>
          <p:cNvSpPr/>
          <p:nvPr/>
        </p:nvSpPr>
        <p:spPr>
          <a:xfrm>
            <a:off x="0" y="4846320"/>
            <a:ext cx="9144000" cy="45720"/>
          </a:xfrm>
          <a:prstGeom prst="rect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7"/>
          <p:cNvSpPr/>
          <p:nvPr/>
        </p:nvSpPr>
        <p:spPr>
          <a:xfrm>
            <a:off x="0" y="4892040"/>
            <a:ext cx="2560320" cy="246888"/>
          </a:xfrm>
          <a:prstGeom prst="rect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7"/>
          <p:cNvSpPr/>
          <p:nvPr/>
        </p:nvSpPr>
        <p:spPr>
          <a:xfrm>
            <a:off x="91440" y="4901184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Nicolás Fernández Olmos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7"/>
          <p:cNvSpPr/>
          <p:nvPr/>
        </p:nvSpPr>
        <p:spPr>
          <a:xfrm>
            <a:off x="8229600" y="4901184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Cap.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4" name="Google Shape;42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822960"/>
            <a:ext cx="5029200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03520" y="822960"/>
            <a:ext cx="356616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17"/>
          <p:cNvSpPr/>
          <p:nvPr/>
        </p:nvSpPr>
        <p:spPr>
          <a:xfrm>
            <a:off x="274320" y="4114800"/>
            <a:ext cx="859536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7"/>
          <p:cNvSpPr/>
          <p:nvPr/>
        </p:nvSpPr>
        <p:spPr>
          <a:xfrm>
            <a:off x="411480" y="416966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Paleta consistente en todos los capítulos: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7"/>
          <p:cNvSpPr/>
          <p:nvPr/>
        </p:nvSpPr>
        <p:spPr>
          <a:xfrm>
            <a:off x="2560320" y="4224528"/>
            <a:ext cx="201168" cy="201168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7"/>
          <p:cNvSpPr/>
          <p:nvPr/>
        </p:nvSpPr>
        <p:spPr>
          <a:xfrm>
            <a:off x="2807208" y="4206240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Solar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7"/>
          <p:cNvSpPr/>
          <p:nvPr/>
        </p:nvSpPr>
        <p:spPr>
          <a:xfrm>
            <a:off x="3749040" y="4224528"/>
            <a:ext cx="201168" cy="201168"/>
          </a:xfrm>
          <a:prstGeom prst="ellipse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7"/>
          <p:cNvSpPr/>
          <p:nvPr/>
        </p:nvSpPr>
        <p:spPr>
          <a:xfrm>
            <a:off x="3995928" y="4206240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Eólica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7"/>
          <p:cNvSpPr/>
          <p:nvPr/>
        </p:nvSpPr>
        <p:spPr>
          <a:xfrm>
            <a:off x="4937760" y="4224528"/>
            <a:ext cx="201168" cy="201168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7"/>
          <p:cNvSpPr/>
          <p:nvPr/>
        </p:nvSpPr>
        <p:spPr>
          <a:xfrm>
            <a:off x="5184648" y="4206240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Hidro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7"/>
          <p:cNvSpPr/>
          <p:nvPr/>
        </p:nvSpPr>
        <p:spPr>
          <a:xfrm>
            <a:off x="6126480" y="4224528"/>
            <a:ext cx="201168" cy="201168"/>
          </a:xfrm>
          <a:prstGeom prst="ellipse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7"/>
          <p:cNvSpPr/>
          <p:nvPr/>
        </p:nvSpPr>
        <p:spPr>
          <a:xfrm>
            <a:off x="6373368" y="4206240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Otras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7"/>
          <p:cNvSpPr/>
          <p:nvPr/>
        </p:nvSpPr>
        <p:spPr>
          <a:xfrm>
            <a:off x="7315200" y="4224528"/>
            <a:ext cx="201168" cy="201168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7"/>
          <p:cNvSpPr/>
          <p:nvPr/>
        </p:nvSpPr>
        <p:spPr>
          <a:xfrm>
            <a:off x="7562088" y="4206240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8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8909C"/>
          </a:solidFill>
          <a:ln cap="flat" cmpd="sng" w="12700">
            <a:solidFill>
              <a:srgbClr val="7890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8"/>
          <p:cNvSpPr/>
          <p:nvPr/>
        </p:nvSpPr>
        <p:spPr>
          <a:xfrm>
            <a:off x="457200" y="640080"/>
            <a:ext cx="1828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12000"/>
              <a:buFont typeface="Calibri"/>
              <a:buNone/>
            </a:pPr>
            <a:r>
              <a:rPr b="1" i="0" lang="en-US" sz="12000" u="none" cap="none" strike="noStrik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8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CAPÍTULO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8"/>
          <p:cNvSpPr/>
          <p:nvPr/>
        </p:nvSpPr>
        <p:spPr>
          <a:xfrm>
            <a:off x="457200" y="1371600"/>
            <a:ext cx="8046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Ajustes y Modelos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8"/>
          <p:cNvSpPr/>
          <p:nvPr/>
        </p:nvSpPr>
        <p:spPr>
          <a:xfrm>
            <a:off x="457200" y="2423160"/>
            <a:ext cx="2286000" cy="384048"/>
          </a:xfrm>
          <a:prstGeom prst="rect">
            <a:avLst/>
          </a:prstGeom>
          <a:solidFill>
            <a:srgbClr val="78909C"/>
          </a:solidFill>
          <a:ln cap="flat" cmpd="sng" w="12700">
            <a:solidFill>
              <a:srgbClr val="7890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8"/>
          <p:cNvSpPr/>
          <p:nvPr/>
        </p:nvSpPr>
        <p:spPr>
          <a:xfrm>
            <a:off x="502920" y="2441448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⏳  Pendiente de entrega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8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Contenido previsto: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8"/>
          <p:cNvSpPr/>
          <p:nvPr/>
        </p:nvSpPr>
        <p:spPr>
          <a:xfrm>
            <a:off x="457200" y="3291840"/>
            <a:ext cx="80467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234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Ajuste de curvas de crecimiento (regresión lineal, cuadrática, exponencial)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D234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Proyección 2025–2035 bajo distintos escenarios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D234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Posición de Argentina en los modelos predictivos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D2340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D2340"/>
                </a:solidFill>
                <a:latin typeface="Calibri"/>
                <a:ea typeface="Calibri"/>
                <a:cs typeface="Calibri"/>
                <a:sym typeface="Calibri"/>
              </a:rPr>
              <a:t>Métricas de evaluación: R², RMSE, MAE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340"/>
        </a:solidFill>
      </p:bgPr>
    </p:bg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9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9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CONCLUSIONES PARCIALES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9"/>
          <p:cNvSpPr/>
          <p:nvPr/>
        </p:nvSpPr>
        <p:spPr>
          <a:xfrm>
            <a:off x="274320" y="777240"/>
            <a:ext cx="8595360" cy="704088"/>
          </a:xfrm>
          <a:prstGeom prst="rect">
            <a:avLst/>
          </a:prstGeom>
          <a:solidFill>
            <a:srgbClr val="1B3A6B"/>
          </a:solidFill>
          <a:ln cap="flat" cmpd="sng" w="9525">
            <a:solidFill>
              <a:srgbClr val="2D5B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9"/>
          <p:cNvSpPr/>
          <p:nvPr/>
        </p:nvSpPr>
        <p:spPr>
          <a:xfrm>
            <a:off x="365760" y="822960"/>
            <a:ext cx="548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🌍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9"/>
          <p:cNvSpPr/>
          <p:nvPr/>
        </p:nvSpPr>
        <p:spPr>
          <a:xfrm>
            <a:off x="1005840" y="822960"/>
            <a:ext cx="7680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BEAF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BEAFE"/>
                </a:solidFill>
                <a:latin typeface="Calibri"/>
                <a:ea typeface="Calibri"/>
                <a:cs typeface="Calibri"/>
                <a:sym typeface="Calibri"/>
              </a:rPr>
              <a:t>La transición renovable ES robusta: solar ×2.000 y eólica ×80 entre 2000 y 2024.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9"/>
          <p:cNvSpPr/>
          <p:nvPr/>
        </p:nvSpPr>
        <p:spPr>
          <a:xfrm>
            <a:off x="274320" y="1572768"/>
            <a:ext cx="8595360" cy="704088"/>
          </a:xfrm>
          <a:prstGeom prst="rect">
            <a:avLst/>
          </a:prstGeom>
          <a:solidFill>
            <a:srgbClr val="1B3A6B"/>
          </a:solidFill>
          <a:ln cap="flat" cmpd="sng" w="9525">
            <a:solidFill>
              <a:srgbClr val="2D5B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9"/>
          <p:cNvSpPr/>
          <p:nvPr/>
        </p:nvSpPr>
        <p:spPr>
          <a:xfrm>
            <a:off x="365760" y="1618488"/>
            <a:ext cx="548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9"/>
          <p:cNvSpPr/>
          <p:nvPr/>
        </p:nvSpPr>
        <p:spPr>
          <a:xfrm>
            <a:off x="1005840" y="1618488"/>
            <a:ext cx="7680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BEAF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BEAFE"/>
                </a:solidFill>
                <a:latin typeface="Calibri"/>
                <a:ea typeface="Calibri"/>
                <a:cs typeface="Calibri"/>
                <a:sym typeface="Calibri"/>
              </a:rPr>
              <a:t>Pero está concentrada: 5 países acumulan el 63% de la generación total renovable.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9"/>
          <p:cNvSpPr/>
          <p:nvPr/>
        </p:nvSpPr>
        <p:spPr>
          <a:xfrm>
            <a:off x="274320" y="2368296"/>
            <a:ext cx="8595360" cy="704088"/>
          </a:xfrm>
          <a:prstGeom prst="rect">
            <a:avLst/>
          </a:prstGeom>
          <a:solidFill>
            <a:srgbClr val="1B3A6B"/>
          </a:solidFill>
          <a:ln cap="flat" cmpd="sng" w="9525">
            <a:solidFill>
              <a:srgbClr val="2D5B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9"/>
          <p:cNvSpPr/>
          <p:nvPr/>
        </p:nvSpPr>
        <p:spPr>
          <a:xfrm>
            <a:off x="365760" y="2414016"/>
            <a:ext cx="548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☀️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9"/>
          <p:cNvSpPr/>
          <p:nvPr/>
        </p:nvSpPr>
        <p:spPr>
          <a:xfrm>
            <a:off x="1005840" y="2414016"/>
            <a:ext cx="7680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BEAF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BEAFE"/>
                </a:solidFill>
                <a:latin typeface="Calibri"/>
                <a:ea typeface="Calibri"/>
                <a:cs typeface="Calibri"/>
                <a:sym typeface="Calibri"/>
              </a:rPr>
              <a:t>Solar lidera el crecimiento futuro (Spearman = 0,73 con el año). Es el indicador clave para IA.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9"/>
          <p:cNvSpPr/>
          <p:nvPr/>
        </p:nvSpPr>
        <p:spPr>
          <a:xfrm>
            <a:off x="274320" y="3163824"/>
            <a:ext cx="8595360" cy="704088"/>
          </a:xfrm>
          <a:prstGeom prst="rect">
            <a:avLst/>
          </a:prstGeom>
          <a:solidFill>
            <a:srgbClr val="1B3A6B"/>
          </a:solidFill>
          <a:ln cap="flat" cmpd="sng" w="9525">
            <a:solidFill>
              <a:srgbClr val="2D5B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9"/>
          <p:cNvSpPr/>
          <p:nvPr/>
        </p:nvSpPr>
        <p:spPr>
          <a:xfrm>
            <a:off x="365760" y="3209544"/>
            <a:ext cx="548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💧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9"/>
          <p:cNvSpPr/>
          <p:nvPr/>
        </p:nvSpPr>
        <p:spPr>
          <a:xfrm>
            <a:off x="1005840" y="3209544"/>
            <a:ext cx="7680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BEAF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BEAFE"/>
                </a:solidFill>
                <a:latin typeface="Calibri"/>
                <a:ea typeface="Calibri"/>
                <a:cs typeface="Calibri"/>
                <a:sym typeface="Calibri"/>
              </a:rPr>
              <a:t>Hidroeléctrica domina el ranking actual pero no crece. El futuro es solar + eólica.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9"/>
          <p:cNvSpPr/>
          <p:nvPr/>
        </p:nvSpPr>
        <p:spPr>
          <a:xfrm>
            <a:off x="274320" y="3959352"/>
            <a:ext cx="8595360" cy="704088"/>
          </a:xfrm>
          <a:prstGeom prst="rect">
            <a:avLst/>
          </a:prstGeom>
          <a:solidFill>
            <a:srgbClr val="1B3A6B"/>
          </a:solidFill>
          <a:ln cap="flat" cmpd="sng" w="9525">
            <a:solidFill>
              <a:srgbClr val="2D5B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9"/>
          <p:cNvSpPr/>
          <p:nvPr/>
        </p:nvSpPr>
        <p:spPr>
          <a:xfrm>
            <a:off x="365760" y="4005072"/>
            <a:ext cx="548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🇦🇷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9"/>
          <p:cNvSpPr/>
          <p:nvPr/>
        </p:nvSpPr>
        <p:spPr>
          <a:xfrm>
            <a:off x="1005840" y="4005072"/>
            <a:ext cx="7680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BEAF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BEAFE"/>
                </a:solidFill>
                <a:latin typeface="Calibri"/>
                <a:ea typeface="Calibri"/>
                <a:cs typeface="Calibri"/>
                <a:sym typeface="Calibri"/>
              </a:rPr>
              <a:t>Argentina: 52,4 TWh (2024), creciendo desde 2018. Lejos del top-10 pero con trayectoria.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340"/>
        </a:solidFill>
      </p:bgPr>
    </p:bg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20"/>
          <p:cNvSpPr/>
          <p:nvPr/>
        </p:nvSpPr>
        <p:spPr>
          <a:xfrm>
            <a:off x="365760" y="1097280"/>
            <a:ext cx="84124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Calibri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¡Gracias!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0"/>
          <p:cNvSpPr/>
          <p:nvPr/>
        </p:nvSpPr>
        <p:spPr>
          <a:xfrm>
            <a:off x="365760" y="265176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CEF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94CEFF"/>
                </a:solidFill>
                <a:latin typeface="Calibri"/>
                <a:ea typeface="Calibri"/>
                <a:cs typeface="Calibri"/>
                <a:sym typeface="Calibri"/>
              </a:rPr>
              <a:t>Preguntas y comentarios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0"/>
          <p:cNvSpPr/>
          <p:nvPr/>
        </p:nvSpPr>
        <p:spPr>
          <a:xfrm>
            <a:off x="1188720" y="3337560"/>
            <a:ext cx="502920" cy="502920"/>
          </a:xfrm>
          <a:prstGeom prst="ellipse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0"/>
          <p:cNvSpPr/>
          <p:nvPr/>
        </p:nvSpPr>
        <p:spPr>
          <a:xfrm>
            <a:off x="548640" y="388620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BEAF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BEAFE"/>
                </a:solidFill>
                <a:latin typeface="Calibri"/>
                <a:ea typeface="Calibri"/>
                <a:cs typeface="Calibri"/>
                <a:sym typeface="Calibri"/>
              </a:rPr>
              <a:t>Carlos Perichón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0"/>
          <p:cNvSpPr/>
          <p:nvPr/>
        </p:nvSpPr>
        <p:spPr>
          <a:xfrm>
            <a:off x="548640" y="418795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Cap.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0"/>
          <p:cNvSpPr/>
          <p:nvPr/>
        </p:nvSpPr>
        <p:spPr>
          <a:xfrm>
            <a:off x="3246120" y="3337560"/>
            <a:ext cx="502920" cy="502920"/>
          </a:xfrm>
          <a:prstGeom prst="ellipse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0"/>
          <p:cNvSpPr/>
          <p:nvPr/>
        </p:nvSpPr>
        <p:spPr>
          <a:xfrm>
            <a:off x="2606040" y="388620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BEAF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BEAFE"/>
                </a:solidFill>
                <a:latin typeface="Calibri"/>
                <a:ea typeface="Calibri"/>
                <a:cs typeface="Calibri"/>
                <a:sym typeface="Calibri"/>
              </a:rPr>
              <a:t>Pablo Martín Iturralde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0"/>
          <p:cNvSpPr/>
          <p:nvPr/>
        </p:nvSpPr>
        <p:spPr>
          <a:xfrm>
            <a:off x="2606040" y="418795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Cap.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0"/>
          <p:cNvSpPr/>
          <p:nvPr/>
        </p:nvSpPr>
        <p:spPr>
          <a:xfrm>
            <a:off x="5303520" y="3337560"/>
            <a:ext cx="502920" cy="502920"/>
          </a:xfrm>
          <a:prstGeom prst="ellipse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0"/>
          <p:cNvSpPr/>
          <p:nvPr/>
        </p:nvSpPr>
        <p:spPr>
          <a:xfrm>
            <a:off x="4663440" y="388620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BEAF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BEAFE"/>
                </a:solidFill>
                <a:latin typeface="Calibri"/>
                <a:ea typeface="Calibri"/>
                <a:cs typeface="Calibri"/>
                <a:sym typeface="Calibri"/>
              </a:rPr>
              <a:t>Carlos Hall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0"/>
          <p:cNvSpPr/>
          <p:nvPr/>
        </p:nvSpPr>
        <p:spPr>
          <a:xfrm>
            <a:off x="4663440" y="418795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Cap.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0"/>
          <p:cNvSpPr/>
          <p:nvPr/>
        </p:nvSpPr>
        <p:spPr>
          <a:xfrm>
            <a:off x="7360920" y="3337560"/>
            <a:ext cx="502920" cy="502920"/>
          </a:xfrm>
          <a:prstGeom prst="ellipse">
            <a:avLst/>
          </a:prstGeom>
          <a:solidFill>
            <a:srgbClr val="6D28D9"/>
          </a:solidFill>
          <a:ln cap="flat" cmpd="sng" w="12700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0"/>
          <p:cNvSpPr/>
          <p:nvPr/>
        </p:nvSpPr>
        <p:spPr>
          <a:xfrm>
            <a:off x="6720840" y="388620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BEAF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BEAFE"/>
                </a:solidFill>
                <a:latin typeface="Calibri"/>
                <a:ea typeface="Calibri"/>
                <a:cs typeface="Calibri"/>
                <a:sym typeface="Calibri"/>
              </a:rPr>
              <a:t>Nicolás Fernández Olmos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0"/>
          <p:cNvSpPr/>
          <p:nvPr/>
        </p:nvSpPr>
        <p:spPr>
          <a:xfrm>
            <a:off x="6720840" y="418795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Cap. 4 + 5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0"/>
          <p:cNvSpPr/>
          <p:nvPr/>
        </p:nvSpPr>
        <p:spPr>
          <a:xfrm>
            <a:off x="0" y="480060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UGR · TUDAI · Introducción a la Ciencia de Datos · Grupo 30 ·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